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Int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ed819c8bc8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ed819c8bc8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ed819c8bc8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43.png"/><Relationship Id="rId6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0.png"/><Relationship Id="rId22" Type="http://schemas.openxmlformats.org/officeDocument/2006/relationships/image" Target="../media/image71.png"/><Relationship Id="rId21" Type="http://schemas.openxmlformats.org/officeDocument/2006/relationships/image" Target="../media/image87.png"/><Relationship Id="rId24" Type="http://schemas.openxmlformats.org/officeDocument/2006/relationships/image" Target="../media/image38.png"/><Relationship Id="rId23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49.png"/><Relationship Id="rId25" Type="http://schemas.openxmlformats.org/officeDocument/2006/relationships/image" Target="../media/image67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11" Type="http://schemas.openxmlformats.org/officeDocument/2006/relationships/image" Target="../media/image48.png"/><Relationship Id="rId10" Type="http://schemas.openxmlformats.org/officeDocument/2006/relationships/image" Target="../media/image9.png"/><Relationship Id="rId13" Type="http://schemas.openxmlformats.org/officeDocument/2006/relationships/image" Target="../media/image7.png"/><Relationship Id="rId12" Type="http://schemas.openxmlformats.org/officeDocument/2006/relationships/image" Target="../media/image11.png"/><Relationship Id="rId15" Type="http://schemas.openxmlformats.org/officeDocument/2006/relationships/image" Target="../media/image18.png"/><Relationship Id="rId14" Type="http://schemas.openxmlformats.org/officeDocument/2006/relationships/image" Target="../media/image15.png"/><Relationship Id="rId17" Type="http://schemas.openxmlformats.org/officeDocument/2006/relationships/image" Target="../media/image32.png"/><Relationship Id="rId16" Type="http://schemas.openxmlformats.org/officeDocument/2006/relationships/image" Target="../media/image21.png"/><Relationship Id="rId19" Type="http://schemas.openxmlformats.org/officeDocument/2006/relationships/image" Target="../media/image42.png"/><Relationship Id="rId1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50.png"/><Relationship Id="rId22" Type="http://schemas.openxmlformats.org/officeDocument/2006/relationships/image" Target="../media/image51.png"/><Relationship Id="rId21" Type="http://schemas.openxmlformats.org/officeDocument/2006/relationships/image" Target="../media/image53.png"/><Relationship Id="rId23" Type="http://schemas.openxmlformats.org/officeDocument/2006/relationships/image" Target="../media/image1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64.png"/><Relationship Id="rId5" Type="http://schemas.openxmlformats.org/officeDocument/2006/relationships/image" Target="../media/image14.png"/><Relationship Id="rId6" Type="http://schemas.openxmlformats.org/officeDocument/2006/relationships/image" Target="../media/image39.png"/><Relationship Id="rId7" Type="http://schemas.openxmlformats.org/officeDocument/2006/relationships/image" Target="../media/image52.png"/><Relationship Id="rId8" Type="http://schemas.openxmlformats.org/officeDocument/2006/relationships/image" Target="../media/image36.png"/><Relationship Id="rId11" Type="http://schemas.openxmlformats.org/officeDocument/2006/relationships/image" Target="../media/image63.png"/><Relationship Id="rId10" Type="http://schemas.openxmlformats.org/officeDocument/2006/relationships/image" Target="../media/image40.png"/><Relationship Id="rId13" Type="http://schemas.openxmlformats.org/officeDocument/2006/relationships/image" Target="../media/image47.png"/><Relationship Id="rId12" Type="http://schemas.openxmlformats.org/officeDocument/2006/relationships/image" Target="../media/image41.png"/><Relationship Id="rId15" Type="http://schemas.openxmlformats.org/officeDocument/2006/relationships/image" Target="../media/image45.png"/><Relationship Id="rId14" Type="http://schemas.openxmlformats.org/officeDocument/2006/relationships/image" Target="../media/image65.png"/><Relationship Id="rId17" Type="http://schemas.openxmlformats.org/officeDocument/2006/relationships/image" Target="../media/image44.png"/><Relationship Id="rId16" Type="http://schemas.openxmlformats.org/officeDocument/2006/relationships/image" Target="../media/image72.png"/><Relationship Id="rId19" Type="http://schemas.openxmlformats.org/officeDocument/2006/relationships/image" Target="../media/image77.png"/><Relationship Id="rId18" Type="http://schemas.openxmlformats.org/officeDocument/2006/relationships/image" Target="../media/image4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6.png"/><Relationship Id="rId4" Type="http://schemas.openxmlformats.org/officeDocument/2006/relationships/image" Target="../media/image2.png"/><Relationship Id="rId9" Type="http://schemas.openxmlformats.org/officeDocument/2006/relationships/image" Target="../media/image80.png"/><Relationship Id="rId5" Type="http://schemas.openxmlformats.org/officeDocument/2006/relationships/image" Target="../media/image14.png"/><Relationship Id="rId6" Type="http://schemas.openxmlformats.org/officeDocument/2006/relationships/image" Target="../media/image75.png"/><Relationship Id="rId7" Type="http://schemas.openxmlformats.org/officeDocument/2006/relationships/image" Target="../media/image55.png"/><Relationship Id="rId8" Type="http://schemas.openxmlformats.org/officeDocument/2006/relationships/image" Target="../media/image57.png"/><Relationship Id="rId11" Type="http://schemas.openxmlformats.org/officeDocument/2006/relationships/image" Target="../media/image92.png"/><Relationship Id="rId10" Type="http://schemas.openxmlformats.org/officeDocument/2006/relationships/image" Target="../media/image88.png"/><Relationship Id="rId13" Type="http://schemas.openxmlformats.org/officeDocument/2006/relationships/image" Target="../media/image61.png"/><Relationship Id="rId12" Type="http://schemas.openxmlformats.org/officeDocument/2006/relationships/image" Target="../media/image79.png"/><Relationship Id="rId14" Type="http://schemas.openxmlformats.org/officeDocument/2006/relationships/image" Target="../media/image6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6.png"/><Relationship Id="rId4" Type="http://schemas.openxmlformats.org/officeDocument/2006/relationships/image" Target="../media/image2.png"/><Relationship Id="rId9" Type="http://schemas.openxmlformats.org/officeDocument/2006/relationships/image" Target="../media/image96.png"/><Relationship Id="rId5" Type="http://schemas.openxmlformats.org/officeDocument/2006/relationships/image" Target="../media/image14.png"/><Relationship Id="rId6" Type="http://schemas.openxmlformats.org/officeDocument/2006/relationships/image" Target="../media/image73.png"/><Relationship Id="rId7" Type="http://schemas.openxmlformats.org/officeDocument/2006/relationships/image" Target="../media/image85.png"/><Relationship Id="rId8" Type="http://schemas.openxmlformats.org/officeDocument/2006/relationships/image" Target="../media/image74.png"/><Relationship Id="rId11" Type="http://schemas.openxmlformats.org/officeDocument/2006/relationships/image" Target="../media/image76.png"/><Relationship Id="rId10" Type="http://schemas.openxmlformats.org/officeDocument/2006/relationships/image" Target="../media/image99.png"/><Relationship Id="rId13" Type="http://schemas.openxmlformats.org/officeDocument/2006/relationships/image" Target="../media/image81.png"/><Relationship Id="rId12" Type="http://schemas.openxmlformats.org/officeDocument/2006/relationships/image" Target="../media/image131.png"/><Relationship Id="rId15" Type="http://schemas.openxmlformats.org/officeDocument/2006/relationships/image" Target="../media/image82.png"/><Relationship Id="rId14" Type="http://schemas.openxmlformats.org/officeDocument/2006/relationships/image" Target="../media/image78.png"/><Relationship Id="rId17" Type="http://schemas.openxmlformats.org/officeDocument/2006/relationships/image" Target="../media/image95.png"/><Relationship Id="rId16" Type="http://schemas.openxmlformats.org/officeDocument/2006/relationships/image" Target="../media/image86.png"/><Relationship Id="rId18" Type="http://schemas.openxmlformats.org/officeDocument/2006/relationships/image" Target="../media/image103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6.png"/><Relationship Id="rId22" Type="http://schemas.openxmlformats.org/officeDocument/2006/relationships/image" Target="../media/image108.png"/><Relationship Id="rId21" Type="http://schemas.openxmlformats.org/officeDocument/2006/relationships/image" Target="../media/image111.png"/><Relationship Id="rId24" Type="http://schemas.openxmlformats.org/officeDocument/2006/relationships/image" Target="../media/image117.png"/><Relationship Id="rId23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6.png"/><Relationship Id="rId4" Type="http://schemas.openxmlformats.org/officeDocument/2006/relationships/image" Target="../media/image2.png"/><Relationship Id="rId9" Type="http://schemas.openxmlformats.org/officeDocument/2006/relationships/image" Target="../media/image102.png"/><Relationship Id="rId26" Type="http://schemas.openxmlformats.org/officeDocument/2006/relationships/image" Target="../media/image120.png"/><Relationship Id="rId25" Type="http://schemas.openxmlformats.org/officeDocument/2006/relationships/image" Target="../media/image116.png"/><Relationship Id="rId27" Type="http://schemas.openxmlformats.org/officeDocument/2006/relationships/image" Target="../media/image137.png"/><Relationship Id="rId5" Type="http://schemas.openxmlformats.org/officeDocument/2006/relationships/image" Target="../media/image14.png"/><Relationship Id="rId6" Type="http://schemas.openxmlformats.org/officeDocument/2006/relationships/image" Target="../media/image101.png"/><Relationship Id="rId7" Type="http://schemas.openxmlformats.org/officeDocument/2006/relationships/image" Target="../media/image74.png"/><Relationship Id="rId8" Type="http://schemas.openxmlformats.org/officeDocument/2006/relationships/image" Target="../media/image97.png"/><Relationship Id="rId11" Type="http://schemas.openxmlformats.org/officeDocument/2006/relationships/image" Target="../media/image104.png"/><Relationship Id="rId10" Type="http://schemas.openxmlformats.org/officeDocument/2006/relationships/image" Target="../media/image98.png"/><Relationship Id="rId13" Type="http://schemas.openxmlformats.org/officeDocument/2006/relationships/image" Target="../media/image129.png"/><Relationship Id="rId12" Type="http://schemas.openxmlformats.org/officeDocument/2006/relationships/image" Target="../media/image154.png"/><Relationship Id="rId15" Type="http://schemas.openxmlformats.org/officeDocument/2006/relationships/image" Target="../media/image119.png"/><Relationship Id="rId14" Type="http://schemas.openxmlformats.org/officeDocument/2006/relationships/image" Target="../media/image125.png"/><Relationship Id="rId17" Type="http://schemas.openxmlformats.org/officeDocument/2006/relationships/image" Target="../media/image107.png"/><Relationship Id="rId16" Type="http://schemas.openxmlformats.org/officeDocument/2006/relationships/image" Target="../media/image100.png"/><Relationship Id="rId19" Type="http://schemas.openxmlformats.org/officeDocument/2006/relationships/image" Target="../media/image105.png"/><Relationship Id="rId18" Type="http://schemas.openxmlformats.org/officeDocument/2006/relationships/image" Target="../media/image113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5.png"/><Relationship Id="rId22" Type="http://schemas.openxmlformats.org/officeDocument/2006/relationships/image" Target="../media/image156.png"/><Relationship Id="rId21" Type="http://schemas.openxmlformats.org/officeDocument/2006/relationships/image" Target="../media/image134.png"/><Relationship Id="rId24" Type="http://schemas.openxmlformats.org/officeDocument/2006/relationships/image" Target="../media/image140.png"/><Relationship Id="rId23" Type="http://schemas.openxmlformats.org/officeDocument/2006/relationships/image" Target="../media/image1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png"/><Relationship Id="rId4" Type="http://schemas.openxmlformats.org/officeDocument/2006/relationships/image" Target="../media/image2.png"/><Relationship Id="rId9" Type="http://schemas.openxmlformats.org/officeDocument/2006/relationships/image" Target="../media/image142.png"/><Relationship Id="rId26" Type="http://schemas.openxmlformats.org/officeDocument/2006/relationships/image" Target="../media/image144.png"/><Relationship Id="rId25" Type="http://schemas.openxmlformats.org/officeDocument/2006/relationships/image" Target="../media/image145.png"/><Relationship Id="rId5" Type="http://schemas.openxmlformats.org/officeDocument/2006/relationships/image" Target="../media/image14.png"/><Relationship Id="rId6" Type="http://schemas.openxmlformats.org/officeDocument/2006/relationships/image" Target="../media/image161.png"/><Relationship Id="rId7" Type="http://schemas.openxmlformats.org/officeDocument/2006/relationships/image" Target="../media/image124.png"/><Relationship Id="rId8" Type="http://schemas.openxmlformats.org/officeDocument/2006/relationships/image" Target="../media/image127.png"/><Relationship Id="rId11" Type="http://schemas.openxmlformats.org/officeDocument/2006/relationships/image" Target="../media/image159.png"/><Relationship Id="rId10" Type="http://schemas.openxmlformats.org/officeDocument/2006/relationships/image" Target="../media/image122.png"/><Relationship Id="rId13" Type="http://schemas.openxmlformats.org/officeDocument/2006/relationships/image" Target="../media/image126.png"/><Relationship Id="rId12" Type="http://schemas.openxmlformats.org/officeDocument/2006/relationships/image" Target="../media/image123.png"/><Relationship Id="rId15" Type="http://schemas.openxmlformats.org/officeDocument/2006/relationships/image" Target="../media/image165.png"/><Relationship Id="rId14" Type="http://schemas.openxmlformats.org/officeDocument/2006/relationships/image" Target="../media/image128.png"/><Relationship Id="rId17" Type="http://schemas.openxmlformats.org/officeDocument/2006/relationships/image" Target="../media/image132.png"/><Relationship Id="rId16" Type="http://schemas.openxmlformats.org/officeDocument/2006/relationships/image" Target="../media/image130.png"/><Relationship Id="rId19" Type="http://schemas.openxmlformats.org/officeDocument/2006/relationships/image" Target="../media/image173.png"/><Relationship Id="rId18" Type="http://schemas.openxmlformats.org/officeDocument/2006/relationships/image" Target="../media/image143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164.png"/><Relationship Id="rId21" Type="http://schemas.openxmlformats.org/officeDocument/2006/relationships/image" Target="../media/image2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6.png"/><Relationship Id="rId4" Type="http://schemas.openxmlformats.org/officeDocument/2006/relationships/image" Target="../media/image2.png"/><Relationship Id="rId9" Type="http://schemas.openxmlformats.org/officeDocument/2006/relationships/image" Target="../media/image148.png"/><Relationship Id="rId5" Type="http://schemas.openxmlformats.org/officeDocument/2006/relationships/image" Target="../media/image14.png"/><Relationship Id="rId6" Type="http://schemas.openxmlformats.org/officeDocument/2006/relationships/image" Target="../media/image146.png"/><Relationship Id="rId7" Type="http://schemas.openxmlformats.org/officeDocument/2006/relationships/image" Target="../media/image155.png"/><Relationship Id="rId8" Type="http://schemas.openxmlformats.org/officeDocument/2006/relationships/image" Target="../media/image149.png"/><Relationship Id="rId11" Type="http://schemas.openxmlformats.org/officeDocument/2006/relationships/image" Target="../media/image147.png"/><Relationship Id="rId10" Type="http://schemas.openxmlformats.org/officeDocument/2006/relationships/image" Target="../media/image151.png"/><Relationship Id="rId13" Type="http://schemas.openxmlformats.org/officeDocument/2006/relationships/image" Target="../media/image196.png"/><Relationship Id="rId12" Type="http://schemas.openxmlformats.org/officeDocument/2006/relationships/image" Target="../media/image152.png"/><Relationship Id="rId15" Type="http://schemas.openxmlformats.org/officeDocument/2006/relationships/image" Target="../media/image157.png"/><Relationship Id="rId14" Type="http://schemas.openxmlformats.org/officeDocument/2006/relationships/image" Target="../media/image153.png"/><Relationship Id="rId17" Type="http://schemas.openxmlformats.org/officeDocument/2006/relationships/image" Target="../media/image279.png"/><Relationship Id="rId16" Type="http://schemas.openxmlformats.org/officeDocument/2006/relationships/image" Target="../media/image160.png"/><Relationship Id="rId19" Type="http://schemas.openxmlformats.org/officeDocument/2006/relationships/image" Target="../media/image168.png"/><Relationship Id="rId18" Type="http://schemas.openxmlformats.org/officeDocument/2006/relationships/image" Target="../media/image2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6.png"/><Relationship Id="rId4" Type="http://schemas.openxmlformats.org/officeDocument/2006/relationships/image" Target="../media/image2.png"/><Relationship Id="rId9" Type="http://schemas.openxmlformats.org/officeDocument/2006/relationships/image" Target="../media/image230.png"/><Relationship Id="rId5" Type="http://schemas.openxmlformats.org/officeDocument/2006/relationships/image" Target="../media/image14.png"/><Relationship Id="rId6" Type="http://schemas.openxmlformats.org/officeDocument/2006/relationships/image" Target="../media/image167.png"/><Relationship Id="rId7" Type="http://schemas.openxmlformats.org/officeDocument/2006/relationships/image" Target="../media/image169.png"/><Relationship Id="rId8" Type="http://schemas.openxmlformats.org/officeDocument/2006/relationships/image" Target="../media/image194.png"/><Relationship Id="rId11" Type="http://schemas.openxmlformats.org/officeDocument/2006/relationships/image" Target="../media/image188.png"/><Relationship Id="rId10" Type="http://schemas.openxmlformats.org/officeDocument/2006/relationships/image" Target="../media/image170.png"/><Relationship Id="rId13" Type="http://schemas.openxmlformats.org/officeDocument/2006/relationships/image" Target="../media/image179.png"/><Relationship Id="rId12" Type="http://schemas.openxmlformats.org/officeDocument/2006/relationships/image" Target="../media/image215.png"/><Relationship Id="rId14" Type="http://schemas.openxmlformats.org/officeDocument/2006/relationships/image" Target="../media/image17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1.png"/><Relationship Id="rId4" Type="http://schemas.openxmlformats.org/officeDocument/2006/relationships/image" Target="../media/image2.png"/><Relationship Id="rId9" Type="http://schemas.openxmlformats.org/officeDocument/2006/relationships/image" Target="../media/image178.png"/><Relationship Id="rId5" Type="http://schemas.openxmlformats.org/officeDocument/2006/relationships/image" Target="../media/image14.png"/><Relationship Id="rId6" Type="http://schemas.openxmlformats.org/officeDocument/2006/relationships/image" Target="../media/image193.png"/><Relationship Id="rId7" Type="http://schemas.openxmlformats.org/officeDocument/2006/relationships/image" Target="../media/image177.png"/><Relationship Id="rId8" Type="http://schemas.openxmlformats.org/officeDocument/2006/relationships/image" Target="../media/image176.png"/><Relationship Id="rId11" Type="http://schemas.openxmlformats.org/officeDocument/2006/relationships/image" Target="../media/image182.png"/><Relationship Id="rId10" Type="http://schemas.openxmlformats.org/officeDocument/2006/relationships/image" Target="../media/image180.png"/><Relationship Id="rId13" Type="http://schemas.openxmlformats.org/officeDocument/2006/relationships/image" Target="../media/image183.png"/><Relationship Id="rId12" Type="http://schemas.openxmlformats.org/officeDocument/2006/relationships/image" Target="../media/image208.png"/><Relationship Id="rId15" Type="http://schemas.openxmlformats.org/officeDocument/2006/relationships/image" Target="../media/image187.png"/><Relationship Id="rId14" Type="http://schemas.openxmlformats.org/officeDocument/2006/relationships/image" Target="../media/image191.png"/><Relationship Id="rId17" Type="http://schemas.openxmlformats.org/officeDocument/2006/relationships/image" Target="../media/image192.png"/><Relationship Id="rId16" Type="http://schemas.openxmlformats.org/officeDocument/2006/relationships/image" Target="../media/image190.png"/><Relationship Id="rId18" Type="http://schemas.openxmlformats.org/officeDocument/2006/relationships/image" Target="../media/image185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73.png"/><Relationship Id="rId22" Type="http://schemas.openxmlformats.org/officeDocument/2006/relationships/image" Target="../media/image217.png"/><Relationship Id="rId21" Type="http://schemas.openxmlformats.org/officeDocument/2006/relationships/image" Target="../media/image211.png"/><Relationship Id="rId23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9" Type="http://schemas.openxmlformats.org/officeDocument/2006/relationships/image" Target="../media/image197.png"/><Relationship Id="rId5" Type="http://schemas.openxmlformats.org/officeDocument/2006/relationships/image" Target="../media/image219.png"/><Relationship Id="rId6" Type="http://schemas.openxmlformats.org/officeDocument/2006/relationships/image" Target="../media/image195.png"/><Relationship Id="rId7" Type="http://schemas.openxmlformats.org/officeDocument/2006/relationships/image" Target="../media/image218.png"/><Relationship Id="rId8" Type="http://schemas.openxmlformats.org/officeDocument/2006/relationships/image" Target="../media/image200.png"/><Relationship Id="rId11" Type="http://schemas.openxmlformats.org/officeDocument/2006/relationships/image" Target="../media/image198.png"/><Relationship Id="rId10" Type="http://schemas.openxmlformats.org/officeDocument/2006/relationships/image" Target="../media/image201.png"/><Relationship Id="rId13" Type="http://schemas.openxmlformats.org/officeDocument/2006/relationships/image" Target="../media/image203.png"/><Relationship Id="rId12" Type="http://schemas.openxmlformats.org/officeDocument/2006/relationships/image" Target="../media/image199.png"/><Relationship Id="rId15" Type="http://schemas.openxmlformats.org/officeDocument/2006/relationships/image" Target="../media/image206.png"/><Relationship Id="rId14" Type="http://schemas.openxmlformats.org/officeDocument/2006/relationships/image" Target="../media/image202.png"/><Relationship Id="rId17" Type="http://schemas.openxmlformats.org/officeDocument/2006/relationships/image" Target="../media/image207.png"/><Relationship Id="rId16" Type="http://schemas.openxmlformats.org/officeDocument/2006/relationships/image" Target="../media/image204.png"/><Relationship Id="rId19" Type="http://schemas.openxmlformats.org/officeDocument/2006/relationships/image" Target="../media/image212.png"/><Relationship Id="rId18" Type="http://schemas.openxmlformats.org/officeDocument/2006/relationships/image" Target="../media/image214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74.png"/><Relationship Id="rId22" Type="http://schemas.openxmlformats.org/officeDocument/2006/relationships/image" Target="../media/image236.png"/><Relationship Id="rId21" Type="http://schemas.openxmlformats.org/officeDocument/2006/relationships/image" Target="../media/image241.png"/><Relationship Id="rId24" Type="http://schemas.openxmlformats.org/officeDocument/2006/relationships/image" Target="../media/image251.png"/><Relationship Id="rId23" Type="http://schemas.openxmlformats.org/officeDocument/2006/relationships/image" Target="../media/image2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1.png"/><Relationship Id="rId4" Type="http://schemas.openxmlformats.org/officeDocument/2006/relationships/image" Target="../media/image2.png"/><Relationship Id="rId9" Type="http://schemas.openxmlformats.org/officeDocument/2006/relationships/image" Target="../media/image222.png"/><Relationship Id="rId25" Type="http://schemas.openxmlformats.org/officeDocument/2006/relationships/image" Target="../media/image240.png"/><Relationship Id="rId5" Type="http://schemas.openxmlformats.org/officeDocument/2006/relationships/image" Target="../media/image14.png"/><Relationship Id="rId6" Type="http://schemas.openxmlformats.org/officeDocument/2006/relationships/image" Target="../media/image223.png"/><Relationship Id="rId7" Type="http://schemas.openxmlformats.org/officeDocument/2006/relationships/image" Target="../media/image221.png"/><Relationship Id="rId8" Type="http://schemas.openxmlformats.org/officeDocument/2006/relationships/image" Target="../media/image229.png"/><Relationship Id="rId11" Type="http://schemas.openxmlformats.org/officeDocument/2006/relationships/image" Target="../media/image250.png"/><Relationship Id="rId10" Type="http://schemas.openxmlformats.org/officeDocument/2006/relationships/image" Target="../media/image224.png"/><Relationship Id="rId13" Type="http://schemas.openxmlformats.org/officeDocument/2006/relationships/image" Target="../media/image234.png"/><Relationship Id="rId12" Type="http://schemas.openxmlformats.org/officeDocument/2006/relationships/image" Target="../media/image226.png"/><Relationship Id="rId15" Type="http://schemas.openxmlformats.org/officeDocument/2006/relationships/image" Target="../media/image238.png"/><Relationship Id="rId14" Type="http://schemas.openxmlformats.org/officeDocument/2006/relationships/image" Target="../media/image245.png"/><Relationship Id="rId17" Type="http://schemas.openxmlformats.org/officeDocument/2006/relationships/image" Target="../media/image235.png"/><Relationship Id="rId16" Type="http://schemas.openxmlformats.org/officeDocument/2006/relationships/image" Target="../media/image232.png"/><Relationship Id="rId19" Type="http://schemas.openxmlformats.org/officeDocument/2006/relationships/image" Target="../media/image248.png"/><Relationship Id="rId18" Type="http://schemas.openxmlformats.org/officeDocument/2006/relationships/image" Target="../media/image2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1.png"/><Relationship Id="rId4" Type="http://schemas.openxmlformats.org/officeDocument/2006/relationships/image" Target="../media/image2.png"/><Relationship Id="rId9" Type="http://schemas.openxmlformats.org/officeDocument/2006/relationships/image" Target="../media/image276.png"/><Relationship Id="rId5" Type="http://schemas.openxmlformats.org/officeDocument/2006/relationships/image" Target="../media/image14.png"/><Relationship Id="rId6" Type="http://schemas.openxmlformats.org/officeDocument/2006/relationships/image" Target="../media/image252.png"/><Relationship Id="rId7" Type="http://schemas.openxmlformats.org/officeDocument/2006/relationships/image" Target="../media/image283.png"/><Relationship Id="rId8" Type="http://schemas.openxmlformats.org/officeDocument/2006/relationships/image" Target="../media/image256.png"/><Relationship Id="rId11" Type="http://schemas.openxmlformats.org/officeDocument/2006/relationships/image" Target="../media/image260.png"/><Relationship Id="rId10" Type="http://schemas.openxmlformats.org/officeDocument/2006/relationships/image" Target="../media/image255.png"/><Relationship Id="rId13" Type="http://schemas.openxmlformats.org/officeDocument/2006/relationships/image" Target="../media/image259.png"/><Relationship Id="rId12" Type="http://schemas.openxmlformats.org/officeDocument/2006/relationships/image" Target="../media/image258.png"/><Relationship Id="rId15" Type="http://schemas.openxmlformats.org/officeDocument/2006/relationships/image" Target="../media/image292.png"/><Relationship Id="rId14" Type="http://schemas.openxmlformats.org/officeDocument/2006/relationships/image" Target="../media/image257.png"/><Relationship Id="rId17" Type="http://schemas.openxmlformats.org/officeDocument/2006/relationships/image" Target="../media/image268.png"/><Relationship Id="rId16" Type="http://schemas.openxmlformats.org/officeDocument/2006/relationships/image" Target="../media/image254.png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image" Target="../media/image287.png"/><Relationship Id="rId21" Type="http://schemas.openxmlformats.org/officeDocument/2006/relationships/image" Target="../media/image29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6.png"/><Relationship Id="rId4" Type="http://schemas.openxmlformats.org/officeDocument/2006/relationships/image" Target="../media/image2.png"/><Relationship Id="rId9" Type="http://schemas.openxmlformats.org/officeDocument/2006/relationships/image" Target="../media/image272.png"/><Relationship Id="rId5" Type="http://schemas.openxmlformats.org/officeDocument/2006/relationships/image" Target="../media/image14.png"/><Relationship Id="rId6" Type="http://schemas.openxmlformats.org/officeDocument/2006/relationships/image" Target="../media/image270.png"/><Relationship Id="rId7" Type="http://schemas.openxmlformats.org/officeDocument/2006/relationships/image" Target="../media/image55.png"/><Relationship Id="rId8" Type="http://schemas.openxmlformats.org/officeDocument/2006/relationships/image" Target="../media/image286.png"/><Relationship Id="rId11" Type="http://schemas.openxmlformats.org/officeDocument/2006/relationships/image" Target="../media/image280.png"/><Relationship Id="rId10" Type="http://schemas.openxmlformats.org/officeDocument/2006/relationships/image" Target="../media/image266.png"/><Relationship Id="rId13" Type="http://schemas.openxmlformats.org/officeDocument/2006/relationships/image" Target="../media/image296.png"/><Relationship Id="rId12" Type="http://schemas.openxmlformats.org/officeDocument/2006/relationships/image" Target="../media/image290.png"/><Relationship Id="rId15" Type="http://schemas.openxmlformats.org/officeDocument/2006/relationships/image" Target="../media/image282.png"/><Relationship Id="rId14" Type="http://schemas.openxmlformats.org/officeDocument/2006/relationships/image" Target="../media/image293.png"/><Relationship Id="rId17" Type="http://schemas.openxmlformats.org/officeDocument/2006/relationships/image" Target="../media/image288.png"/><Relationship Id="rId16" Type="http://schemas.openxmlformats.org/officeDocument/2006/relationships/image" Target="../media/image291.png"/><Relationship Id="rId19" Type="http://schemas.openxmlformats.org/officeDocument/2006/relationships/image" Target="../media/image289.png"/><Relationship Id="rId18" Type="http://schemas.openxmlformats.org/officeDocument/2006/relationships/image" Target="../media/image28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000"/>
            <a:ext cx="454908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7351" y="3297138"/>
            <a:ext cx="9525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5692080" y="571500"/>
            <a:ext cx="5737771" cy="1948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650"/>
              <a:buFont typeface="Inter"/>
              <a:buNone/>
            </a:pPr>
            <a:r>
              <a:rPr b="1" i="0" lang="en-US" sz="4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Análisis Predictivo y Dashboard Interactivo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577780" y="2672358"/>
            <a:ext cx="5852071" cy="31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Google Play Store — EV3 SCY1101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596830" y="5049738"/>
            <a:ext cx="583302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Paula Caro · Vicente Cancino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692080" y="5449788"/>
            <a:ext cx="573777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DuocUC | Programación para la Ciencia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Junio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615880" y="6097488"/>
            <a:ext cx="5813971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Calibri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github.com/pau-rcr/Google-Play-Analysis-EV3-SCY1101-Cancino-Caro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" name="Google Shape;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000"/>
            <a:ext cx="11049000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" name="Google Shape;3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98215"/>
            <a:ext cx="5372100" cy="832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" name="Google Shape;3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142413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" name="Google Shape;3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86413" y="1546027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145357"/>
            <a:ext cx="5372100" cy="832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23712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" name="Google Shape;38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586413" y="2493169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" name="Google Shape;39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1500" y="3092500"/>
            <a:ext cx="5372100" cy="832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2000" y="3318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586413" y="3440311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1500" y="4039642"/>
            <a:ext cx="5372100" cy="832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" name="Google Shape;43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2000" y="426556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586413" y="4387453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71500" y="4986784"/>
            <a:ext cx="5372100" cy="832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" name="Google Shape;46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2000" y="521270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" name="Google Shape;47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586413" y="5334595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" name="Google Shape;4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8400" y="1198215"/>
            <a:ext cx="5372100" cy="832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" name="Google Shape;4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38900" y="142413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" name="Google Shape;50;p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263313" y="1546027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" name="Google Shape;51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48400" y="2145357"/>
            <a:ext cx="5372100" cy="832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" name="Google Shape;52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38900" y="23712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" name="Google Shape;53;p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263313" y="2493169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48400" y="3092500"/>
            <a:ext cx="5372100" cy="832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38900" y="3318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" name="Google Shape;56;p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263313" y="3440311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48400" y="4039642"/>
            <a:ext cx="5372100" cy="832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38900" y="426556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1263313" y="4387453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248400" y="4986784"/>
            <a:ext cx="5372100" cy="8328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38900" y="521270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1263313" y="5334595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71500" y="6048375"/>
            <a:ext cx="3581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62000" y="6186488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SCY1101 | ANÁLISIS PREDICTIVO GOOGLE PLAY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62000" y="619125"/>
            <a:ext cx="11020425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Inter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Agenda de la Presentación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847725" y="1424136"/>
            <a:ext cx="7715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295400" y="1517452"/>
            <a:ext cx="5715952" cy="194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Problema de Negocio y Dataset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847725" y="2371279"/>
            <a:ext cx="7715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1295400" y="2464594"/>
            <a:ext cx="4355782" cy="194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Metodología End-to-End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47725" y="3318421"/>
            <a:ext cx="7715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295400" y="3411736"/>
            <a:ext cx="3967162" cy="194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Modelado Supervisado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47725" y="4265563"/>
            <a:ext cx="7715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295400" y="4358878"/>
            <a:ext cx="3967162" cy="194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Segmentación K-Means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847725" y="5212705"/>
            <a:ext cx="7715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295400" y="5306020"/>
            <a:ext cx="4161472" cy="194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Dashboard Interactivo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524625" y="1424136"/>
            <a:ext cx="7715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972300" y="1517452"/>
            <a:ext cx="5219700" cy="194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Vistas Gerencial vs. Técnica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524625" y="2371279"/>
            <a:ext cx="7715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972300" y="2464594"/>
            <a:ext cx="3384232" cy="194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Stack Tecnológico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524625" y="3318421"/>
            <a:ext cx="7715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972300" y="3411736"/>
            <a:ext cx="3967162" cy="194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Proceso Colaborativo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524625" y="4265563"/>
            <a:ext cx="7715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972300" y="4358878"/>
            <a:ext cx="5219700" cy="194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Hallazgos y Recomendaciones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524625" y="5212705"/>
            <a:ext cx="7715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972300" y="5306020"/>
            <a:ext cx="4161472" cy="194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Conclusiones y Futuro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066800" y="6162675"/>
            <a:ext cx="637032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TIEMPO ESTIMADO DE SESIÓN: ~15 MINUTOS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000"/>
            <a:ext cx="11049000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98215"/>
            <a:ext cx="4297710" cy="5278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" y="1426815"/>
            <a:ext cx="384051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0100" y="147444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0100" y="2017365"/>
            <a:ext cx="184398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96480" y="2017365"/>
            <a:ext cx="1844129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0100" y="3712815"/>
            <a:ext cx="3840510" cy="1243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2500" y="4141440"/>
            <a:ext cx="353571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52500" y="4141440"/>
            <a:ext cx="2828479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780979" y="4141440"/>
            <a:ext cx="707082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174010" y="119821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283547" y="133156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174010" y="211053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283547" y="224388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9" name="Google Shape;109;p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174010" y="302284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283547" y="3156198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783610" y="3394323"/>
            <a:ext cx="178594" cy="148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783610" y="3684836"/>
            <a:ext cx="178594" cy="148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783610" y="3975348"/>
            <a:ext cx="178594" cy="14882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SCY1101 | ANÁLISIS PREDICTIVO GOOGLE PLAY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62000" y="619125"/>
            <a:ext cx="114300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Inter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Problema de Negocio y Dataset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152525" y="1426815"/>
            <a:ext cx="5486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Arquitectura del Dataset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952500" y="2169765"/>
            <a:ext cx="26746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10.326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952500" y="2550765"/>
            <a:ext cx="199644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Aplicaciones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2948880" y="2169765"/>
            <a:ext cx="1653629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173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2948880" y="2550765"/>
            <a:ext cx="279654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Variables Finales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00100" y="3093690"/>
            <a:ext cx="38405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Dataset origen: </a:t>
            </a:r>
            <a:r>
              <a:rPr b="1" i="0" lang="en-US" sz="1125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Kaggle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Incluye datos limpios, codificados y escalados listos para modelado.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52500" y="3865215"/>
            <a:ext cx="39166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ESTRATEGIA DE VALIDACIÓN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952500" y="4331940"/>
            <a:ext cx="16306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Train: 80%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888135" y="4331940"/>
            <a:ext cx="14935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Test: 20%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52500" y="4617690"/>
            <a:ext cx="361191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Calibri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Seed: 42 | K-Fold: 5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783610" y="1198215"/>
            <a:ext cx="592261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Ecosistema Competitivo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783610" y="1493490"/>
            <a:ext cx="5836890" cy="42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 más de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 millones de aplicaciones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el mercado es altamente heterogéneo. La mayoría no supera las 10.000 instalaciones.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783610" y="2110532"/>
            <a:ext cx="592261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Pregunta Central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783610" y="2405807"/>
            <a:ext cx="5836890" cy="42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¿Qué factores determinan que una app sea bien valorada? Se busca identificar disparadores de satisfacción en diferentes segmentos.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783610" y="3022848"/>
            <a:ext cx="410289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Valor del Proyecto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038404" y="3356223"/>
            <a:ext cx="615359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Anticipar el rating probable antes del lanzamiento.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038404" y="3646736"/>
            <a:ext cx="615359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Segmentar el mercado para estrategias diferenciadas.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038404" y="3937248"/>
            <a:ext cx="615359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Apoyar decisiones técnicas (Feature Engineering).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000"/>
            <a:ext cx="11049000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98215"/>
            <a:ext cx="5372100" cy="5278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" y="142681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3444" y="1529655"/>
            <a:ext cx="214313" cy="17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5" name="Google Shape;145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0100" y="5505450"/>
            <a:ext cx="49149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8400" y="1198215"/>
            <a:ext cx="5372100" cy="5278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77000" y="142681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60344" y="1529655"/>
            <a:ext cx="214313" cy="17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77000" y="1998315"/>
            <a:ext cx="24003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991600" y="1998315"/>
            <a:ext cx="24003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77000" y="5505450"/>
            <a:ext cx="49149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SCY1101 | ANÁLISIS PREDICTIVO GOOGLE PLAY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762000" y="619125"/>
            <a:ext cx="114300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Inter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Metodología Pipeline de Datos y NLP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295400" y="1460153"/>
            <a:ext cx="58045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Preprocesamiento (EV1)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028700" y="1998315"/>
            <a:ext cx="4686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Limpieza: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Eliminación de duplicados e imputación de nulos en Rating y Size.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028700" y="2539157"/>
            <a:ext cx="4686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Feature Engineering: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Transformación logarítmica de Installs/Reviews y creación de </a:t>
            </a:r>
            <a:r>
              <a:rPr b="0" i="1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Review_Ratio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028700" y="3079998"/>
            <a:ext cx="4686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Encoding: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OneHotEncoding para categorías, géneros y clasificación de contenido.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028700" y="3620839"/>
            <a:ext cx="4686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Scaling: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StandardScaler para normalizar la escala de todas las variables numéricas.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952500" y="5657850"/>
            <a:ext cx="4686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RESULTADO FINAL DEL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952500" y="5895975"/>
            <a:ext cx="7810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googleplaystore_ml_ready.csv | 10.326 × 173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972300" y="1460153"/>
            <a:ext cx="5219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Análisis NLP de Sentimiento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534150" y="2112615"/>
            <a:ext cx="2286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64.2%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553200" y="2474565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Reseñas Positivas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9048750" y="2112615"/>
            <a:ext cx="2286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0.185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9067800" y="2474565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Polaridad Media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705600" y="2950815"/>
            <a:ext cx="5486400" cy="213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TextBlob: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Extracción de polaridad (-1 a 1) y subjetividad (0 a 1).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705600" y="3278386"/>
            <a:ext cx="5486400" cy="213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Alcance: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1.079 aplicaciones con corpus de reseñas suficiente.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705600" y="3605957"/>
            <a:ext cx="4686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Variables NLP: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pct_positivo, polaridad_prom y subjetividad_prom.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705600" y="4146798"/>
            <a:ext cx="4686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Integración: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Unión con el dataset principal mediante ingeniería de joins.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629400" y="5657850"/>
            <a:ext cx="4686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DATASET ENRIQUECIDO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629400" y="5895975"/>
            <a:ext cx="423672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googleplaystore_merged.csv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7" name="Google Shape;1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8" name="Google Shape;17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9" name="Google Shape;17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000"/>
            <a:ext cx="11049000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0" name="Google Shape;18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98215"/>
            <a:ext cx="5562600" cy="550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1" name="Google Shape;18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15100" y="1198215"/>
            <a:ext cx="510540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2" name="Google Shape;18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43700" y="1476821"/>
            <a:ext cx="261937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3" name="Google Shape;183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15100" y="4141440"/>
            <a:ext cx="5105400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4" name="Google Shape;184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15100" y="4141440"/>
            <a:ext cx="5105400" cy="414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5" name="Google Shape;185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15100" y="4555778"/>
            <a:ext cx="192911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44210" y="4555778"/>
            <a:ext cx="102870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72910" y="4555778"/>
            <a:ext cx="1328291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801201" y="4555778"/>
            <a:ext cx="819299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9" name="Google Shape;189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15100" y="5003453"/>
            <a:ext cx="1929110" cy="442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44210" y="5003453"/>
            <a:ext cx="1028700" cy="442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472910" y="5003453"/>
            <a:ext cx="1328291" cy="442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801201" y="5003453"/>
            <a:ext cx="819299" cy="442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515100" y="6103590"/>
            <a:ext cx="51054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4" name="Google Shape;194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667500" y="6254948"/>
            <a:ext cx="154781" cy="12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SCY1101 | ANÁLISIS PREDICTIVO GOOGLE PLAY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762000" y="619125"/>
            <a:ext cx="114300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Inter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Modelado Supervisado con Random Forest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2486025" y="2869853"/>
            <a:ext cx="29660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COEFICIENTE R²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952500" y="3222278"/>
            <a:ext cx="112395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0"/>
              <a:buFont typeface="Calibri"/>
              <a:buNone/>
            </a:pPr>
            <a:r>
              <a:rPr b="1" i="0" lang="en-US" sz="105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0.9240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638300" y="4746278"/>
            <a:ext cx="342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Precisión Predictiva del Modelo Final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7100888" y="1426815"/>
            <a:ext cx="509111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¿Por qué Random Forest Regressor?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915150" y="185544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Relaciones No Lineales: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Captura patrones complejos entre características sin especificación manual.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915150" y="238884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Robustez: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Alta tolerancia a valores atípicos (outliers) mediante el ensamble de múltiples árboles.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915150" y="2922240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Interpretabilidad Técnica: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Proporciona</a:t>
            </a:r>
            <a:r>
              <a:rPr b="0" i="1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Feature Importance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nativa para identificar factores clave.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667500" y="4141440"/>
            <a:ext cx="1700510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5"/>
              <a:buFont typeface="Inter"/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8596610" y="4141440"/>
            <a:ext cx="8001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5"/>
              <a:buFont typeface="Inter"/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9625310" y="4141440"/>
            <a:ext cx="1099691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5"/>
              <a:buFont typeface="Inter"/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R²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0953601" y="4141440"/>
            <a:ext cx="590699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5"/>
              <a:buFont typeface="Inter"/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667500" y="4555778"/>
            <a:ext cx="2385974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Regresión Lineal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8596610" y="4679603"/>
            <a:ext cx="609600" cy="209550"/>
          </a:xfrm>
          <a:prstGeom prst="roundRect">
            <a:avLst>
              <a:gd fmla="val 18182" name="adj"/>
            </a:avLst>
          </a:prstGeom>
          <a:solidFill>
            <a:srgbClr val="DBEAFE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8672810" y="4679603"/>
            <a:ext cx="82296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Baseline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9625310" y="4555778"/>
            <a:ext cx="1309206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0.9236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0953601" y="4555778"/>
            <a:ext cx="108108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0.1866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6667500" y="5003453"/>
            <a:ext cx="2963417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Random Forest (Base)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8596610" y="5003453"/>
            <a:ext cx="116205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Principal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9625310" y="5003453"/>
            <a:ext cx="1309206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Calibri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0.9240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0953601" y="5003453"/>
            <a:ext cx="1081085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Calibri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0.1671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667500" y="5446365"/>
            <a:ext cx="1624310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Random Forest (CV K=5)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8596610" y="5446365"/>
            <a:ext cx="12827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Validación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9625310" y="5446365"/>
            <a:ext cx="1023491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0.9177 ± 0.004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0953601" y="5446365"/>
            <a:ext cx="1081085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0.1748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822281" y="6103590"/>
            <a:ext cx="48006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Inter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MAE de 0.1671 equivale a un error promedio de </a:t>
            </a: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~0.26 estrellas</a:t>
            </a: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en la escala de calificación original.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7" name="Google Shape;2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8" name="Google Shape;22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9" name="Google Shape;22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4800"/>
            <a:ext cx="11049000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083915"/>
            <a:ext cx="5410200" cy="2181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1239143"/>
            <a:ext cx="214313" cy="17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800" y="1531590"/>
            <a:ext cx="170497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90775" y="1531590"/>
            <a:ext cx="1975098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4" name="Google Shape;234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65873" y="1531590"/>
            <a:ext cx="1501527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5" name="Google Shape;235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5800" y="1845915"/>
            <a:ext cx="170497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6" name="Google Shape;236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390775" y="1845915"/>
            <a:ext cx="1975098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7" name="Google Shape;237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365873" y="1845915"/>
            <a:ext cx="1501527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8" name="Google Shape;238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5800" y="2426940"/>
            <a:ext cx="1704975" cy="585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9" name="Google Shape;239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390775" y="2426940"/>
            <a:ext cx="1975098" cy="585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0" name="Google Shape;240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365873" y="2426940"/>
            <a:ext cx="1501527" cy="585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p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71500" y="3389114"/>
            <a:ext cx="54102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85800" y="3544342"/>
            <a:ext cx="214313" cy="17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3" name="Google Shape;243;p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85800" y="3836789"/>
            <a:ext cx="25527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4" name="Google Shape;244;p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314700" y="3836789"/>
            <a:ext cx="25527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5" name="Google Shape;245;p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85800" y="4408289"/>
            <a:ext cx="25527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6" name="Google Shape;246;p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314700" y="4408289"/>
            <a:ext cx="25527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7" name="Google Shape;247;p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71500" y="5160764"/>
            <a:ext cx="5410200" cy="1392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8" name="Google Shape;248;p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85800" y="5315992"/>
            <a:ext cx="214313" cy="17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9" name="Google Shape;249;p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85800" y="5608439"/>
            <a:ext cx="5181600" cy="8304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0" name="Google Shape;250;p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210300" y="1083915"/>
            <a:ext cx="5410200" cy="5469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1" name="Google Shape;251;p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324600" y="1239143"/>
            <a:ext cx="214313" cy="17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2" name="Google Shape;252;p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324600" y="1531590"/>
            <a:ext cx="51816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3" name="Google Shape;253;p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6324600" y="1531590"/>
            <a:ext cx="51816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SCY1101 | ANÁLISIS PREDICTIVO GOOGLE PLAY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762000" y="542925"/>
            <a:ext cx="114300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Inter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Optimización de Hiperparámetros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976312" y="1198215"/>
            <a:ext cx="5181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Comparativa de Búsqueda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762000" y="1531590"/>
            <a:ext cx="16287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Estrategia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2466975" y="1531590"/>
            <a:ext cx="18988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Método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442073" y="1531590"/>
            <a:ext cx="2089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Entrenamientos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762000" y="2038796"/>
            <a:ext cx="2133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GridSearchCV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2466975" y="1845915"/>
            <a:ext cx="1822698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Exhaustivo (12 comb. × 5 folds)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4442073" y="1845915"/>
            <a:ext cx="24382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60 Iteraciones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762000" y="2622203"/>
            <a:ext cx="3162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RandomizedSearchCV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2466975" y="2426940"/>
            <a:ext cx="1822698" cy="585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Muestreo Aleatorio (10 comb. × 5 folds)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4442073" y="2426940"/>
            <a:ext cx="1349127" cy="585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50 Iteraciones 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Elegido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976312" y="3503414"/>
            <a:ext cx="5181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Mejores Parámetros (RF)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800100" y="3893939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n_estimators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800100" y="4103489"/>
            <a:ext cx="876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3429000" y="3893939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max_depth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429000" y="4103489"/>
            <a:ext cx="609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800100" y="4465439"/>
            <a:ext cx="24079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min_samples_split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800100" y="4674989"/>
            <a:ext cx="342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429000" y="4465439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random_state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3429000" y="4674989"/>
            <a:ext cx="609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976312" y="5275064"/>
            <a:ext cx="534924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Justificación de Selección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800100" y="5608439"/>
            <a:ext cx="5067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RandomizedSearchCV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alcanzó un rendimiento estadísticamente equivalente usando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&lt;20% del cómputo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total comparado con Grid Search.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800100" y="6065639"/>
            <a:ext cx="5067300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Recomendado para pipelines de re-entrenamiento frecuente por su balance eficiencia/calidad.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6615113" y="1198215"/>
            <a:ext cx="55549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Estabilidad del Modelo (R²)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6286500" y="6198840"/>
            <a:ext cx="52578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Inter"/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Distribución de R² Score en Validación Cruzada (K=5) para las tres estrategias.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5" name="Google Shape;2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6" name="Google Shape;28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7" name="Google Shape;28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000"/>
            <a:ext cx="11049000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8" name="Google Shape;28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98215"/>
            <a:ext cx="1104900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9" name="Google Shape;28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8200" y="2400300"/>
            <a:ext cx="28956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0" name="Google Shape;29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24400" y="2476500"/>
            <a:ext cx="27432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1" name="Google Shape;291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284065"/>
            <a:ext cx="11049000" cy="422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2" name="Google Shape;292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6300" y="26555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3" name="Google Shape;293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838" y="278889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4" name="Google Shape;294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76300" y="3408015"/>
            <a:ext cx="24003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5" name="Google Shape;295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390900" y="3408015"/>
            <a:ext cx="24003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6" name="Google Shape;296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76300" y="4217640"/>
            <a:ext cx="24003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7" name="Google Shape;297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390900" y="4217640"/>
            <a:ext cx="24003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8" name="Google Shape;298;p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76300" y="5141565"/>
            <a:ext cx="49149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9" name="Google Shape;299;p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096000" y="2284065"/>
            <a:ext cx="5524500" cy="422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0" name="Google Shape;300;p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858500" y="26555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1" name="Google Shape;301;p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968038" y="278889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2" name="Google Shape;302;p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400800" y="3408015"/>
            <a:ext cx="24003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3" name="Google Shape;303;p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915400" y="3408015"/>
            <a:ext cx="24003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4" name="Google Shape;304;p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400800" y="4217640"/>
            <a:ext cx="24003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5" name="Google Shape;305;p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915400" y="4217640"/>
            <a:ext cx="2400300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6" name="Google Shape;306;p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400800" y="5141565"/>
            <a:ext cx="49149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7" name="Google Shape;307;p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048000" y="1986450"/>
            <a:ext cx="60960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8" name="Google Shape;308;p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200400" y="5976491"/>
            <a:ext cx="154781" cy="134094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9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SCY1101 | ANÁLISIS PREDICTIVO GOOGLE PLAY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762000" y="619125"/>
            <a:ext cx="114300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Inter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Segmentación K-Means y Clusters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685800" y="1412528"/>
            <a:ext cx="85439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VALIDACIÓN ESTADÍSTICA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685800" y="1622078"/>
            <a:ext cx="11506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K=3 determinado por Inercia (Codo) y Coeficiente de Silhouette (0.18)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1485900" y="2588865"/>
            <a:ext cx="52539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Bajo Rendimiento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1485900" y="2950815"/>
            <a:ext cx="5745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Segmento Mayoritario (Inactivo)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990600" y="3522315"/>
            <a:ext cx="22707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Rating (z-score)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990600" y="3731865"/>
            <a:ext cx="22574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-0.06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3505200" y="3522315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Sentimiento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3505200" y="3731865"/>
            <a:ext cx="22574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-0.26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990600" y="433194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Instalaciones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990600" y="4541490"/>
            <a:ext cx="22574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-0.12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3505200" y="433194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Reseñas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3505200" y="4541490"/>
            <a:ext cx="22574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-0.12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1028700" y="5293965"/>
            <a:ext cx="4686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ESTRATEGIA SUGERIDA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1028700" y="5570190"/>
            <a:ext cx="46101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Apps que "existen" sin impacto. Palanca: fomentar generación de reseñas y optimizar peso (Size_MB).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7620000" y="2588865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Nicho Alta Satisfacción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7677150" y="2950815"/>
            <a:ext cx="3028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Segmento de Valor (Fidelizado)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6515100" y="3522315"/>
            <a:ext cx="22707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Rating (z-score)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515100" y="3731865"/>
            <a:ext cx="22574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+0.46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9029700" y="3522315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Sentimiento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9029700" y="3731865"/>
            <a:ext cx="22574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+2.30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6515100" y="433194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Instalaciones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515100" y="4541490"/>
            <a:ext cx="22574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+0.87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9029700" y="4331940"/>
            <a:ext cx="2247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Reseñas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9029700" y="4541490"/>
            <a:ext cx="22574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+0.88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6553200" y="5293965"/>
            <a:ext cx="4686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ESTRATEGIA SUGERIDA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553200" y="5570190"/>
            <a:ext cx="46101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Alta lealtad y menor competencia. Oportunidad de escalamiento agresivo y monetización premium.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3231781" y="1995975"/>
            <a:ext cx="57912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Inter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Segmento 2: Apps Masivas — Líderes de mercado con alto volumen y sentimiento neutro (+0.33)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3" name="Google Shape;3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4" name="Google Shape;3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5" name="Google Shape;34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000"/>
            <a:ext cx="11049000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6" name="Google Shape;34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98215"/>
            <a:ext cx="4328220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7" name="Google Shape;347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" y="146967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8" name="Google Shape;348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0100" y="1931640"/>
            <a:ext cx="387102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9" name="Google Shape;349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0100" y="1984474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0" name="Google Shape;350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0100" y="2946053"/>
            <a:ext cx="387102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1" name="Google Shape;351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0100" y="2998887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2" name="Google Shape;352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0100" y="4013299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3" name="Google Shape;353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128320" y="1198215"/>
            <a:ext cx="6492180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4" name="Google Shape;354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356920" y="146967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5" name="Google Shape;355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356920" y="1931640"/>
            <a:ext cx="2941290" cy="1176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6" name="Google Shape;356;p1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450610" y="1931640"/>
            <a:ext cx="2941290" cy="1176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7" name="Google Shape;357;p1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356920" y="3260378"/>
            <a:ext cx="2941290" cy="1176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8" name="Google Shape;358;p1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450610" y="3260378"/>
            <a:ext cx="2941290" cy="1176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9" name="Google Shape;359;p1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356920" y="4589115"/>
            <a:ext cx="603498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0" name="Google Shape;360;p1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71500" y="6189315"/>
            <a:ext cx="1104900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1" name="Google Shape;361;p1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00100" y="6303615"/>
            <a:ext cx="8191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0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SCY1101 | ANÁLISIS PREDICTIVO GOOGLE PLAY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762000" y="619125"/>
            <a:ext cx="114300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Inter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Arquitectura y Decisiones Técnicas del Dashboard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1200150" y="1426815"/>
            <a:ext cx="53854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¿Por qué Plotly Dash?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1042988" y="1931640"/>
            <a:ext cx="3967162" cy="24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Control de Callbacks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800100" y="2212628"/>
            <a:ext cx="38710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Gestión granular de la interactividad sin re-ejecutar todo el script, optimizando la experiencia de usuario.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1042988" y="2946053"/>
            <a:ext cx="3967162" cy="24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Vistas Diferenciadas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800100" y="3227040"/>
            <a:ext cx="38710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Uso de </a:t>
            </a:r>
            <a:r>
              <a:rPr b="0" i="0" lang="en-US" sz="1125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dcc.Tabs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 segmentar contenido por audiencia (Gerencial/Técnica).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1042988" y="3960465"/>
            <a:ext cx="4161472" cy="24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75"/>
              <a:buFont typeface="Inter"/>
              <a:buNone/>
            </a:pPr>
            <a:r>
              <a:rPr b="1" i="0" lang="en-US" sz="1275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Estándar de Industria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800100" y="4241453"/>
            <a:ext cx="387102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Librería de referencia para producción en Latam, permitiendo una transición fluida a despliegue web.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5756970" y="1426815"/>
            <a:ext cx="563689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Estructura del Sistema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509320" y="2084040"/>
            <a:ext cx="27126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INTERFAZ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5509320" y="2331690"/>
            <a:ext cx="29908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Multivista (Tabs)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5509320" y="2584103"/>
            <a:ext cx="263649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Inter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Dash Core Components para navegación fluida.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8603010" y="2084040"/>
            <a:ext cx="27126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VISUALIZACIÓN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8603010" y="2331690"/>
            <a:ext cx="33337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Plotly Express &amp; GO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8603010" y="2584103"/>
            <a:ext cx="358899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Inter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Gráficos Radar, Donut, Scatter y Boxplots.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5509320" y="3412778"/>
            <a:ext cx="27126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5509320" y="3660428"/>
            <a:ext cx="271269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Pipeline CSV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5509320" y="3912840"/>
            <a:ext cx="65151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Inter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Carga de datasets procesados en EV1 y EV2.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8603010" y="3412778"/>
            <a:ext cx="271269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INTERACTIVIDAD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8603010" y="3660428"/>
            <a:ext cx="299085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Filtros Real-Time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8603010" y="3912840"/>
            <a:ext cx="263649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Inter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Filtrado por Categoría y Tipo de App mediante Callbacks.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5509320" y="4741515"/>
            <a:ext cx="58063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MÉTRICAS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5509320" y="4989165"/>
            <a:ext cx="580638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10 KPIs Dinámicos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5509320" y="5241578"/>
            <a:ext cx="668268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Inter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5 indicadores de negocio y 5 métricas de rendimiento del modelo ML.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876300" y="6303615"/>
            <a:ext cx="1192619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DEBUG_INFO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1771650" y="6308378"/>
            <a:ext cx="10420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El dashboard se despliega localmente en </a:t>
            </a:r>
            <a:r>
              <a:rPr b="0" i="0" lang="en-US" sz="105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http://localhost:8050</a:t>
            </a:r>
            <a:r>
              <a:rPr b="0" i="0" lang="en-US" sz="105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utilizando un servidor WSGI para producción simulada.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4" name="Google Shape;3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5" name="Google Shape;39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6" name="Google Shape;39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000"/>
            <a:ext cx="11049000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7" name="Google Shape;39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98215"/>
            <a:ext cx="2072580" cy="766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8" name="Google Shape;39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96480" y="1198215"/>
            <a:ext cx="2072729" cy="766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9" name="Google Shape;399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91830" y="1617613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0" name="Google Shape;400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117378"/>
            <a:ext cx="2072580" cy="766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1" name="Google Shape;401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96480" y="2117378"/>
            <a:ext cx="2072729" cy="766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2" name="Google Shape;402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3112740"/>
            <a:ext cx="429771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3" name="Google Shape;403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2000" y="3344168"/>
            <a:ext cx="214313" cy="17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4" name="Google Shape;404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174010" y="1779240"/>
            <a:ext cx="644649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5" name="Google Shape;405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174010" y="1779240"/>
            <a:ext cx="644649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1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SCY1101 | ANÁLISIS PREDICTIVO GOOGLE PLAY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762000" y="619125"/>
            <a:ext cx="11020425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Inter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Dashboard: Vista Gerencial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685800" y="1312515"/>
            <a:ext cx="1962150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Calibri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RATING PROMEDIO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723900" y="1507778"/>
            <a:ext cx="18439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3.54 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2910780" y="1312515"/>
            <a:ext cx="25908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Calibri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SENTIMIENTO POSITIVO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2948880" y="1507778"/>
            <a:ext cx="21945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64.2%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685800" y="2231678"/>
            <a:ext cx="1920180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Calibri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APPS GRATUITAS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723900" y="2426940"/>
            <a:ext cx="18439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92.8% Freemium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2910780" y="2231678"/>
            <a:ext cx="2339340" cy="15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Calibri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LÍDERES DE MERCADO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2948880" y="2426940"/>
            <a:ext cx="1844129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29% Family/Game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1052513" y="3303240"/>
            <a:ext cx="45262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Hallazgos Estratégicos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952500" y="3712815"/>
            <a:ext cx="3726210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Dominio Freemium: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 92.8% de las apps son gratuitas, validando el modelo de monetización indirecta como estándar.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952500" y="4408140"/>
            <a:ext cx="3726210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Oportunidades de Nicho: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Categorías como </a:t>
            </a:r>
            <a:r>
              <a:rPr b="0" i="1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EVENTS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0" i="1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BEAUTY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presentan ratings superiores a 4.2 con baja densidad competitiva.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952500" y="5103465"/>
            <a:ext cx="3726210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Segmentación K-Means: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Identificación clara del </a:t>
            </a:r>
            <a:r>
              <a:rPr b="0" i="1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"Cluster 2"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(Nicho Alta Satisfacción) como el segmento con mayor lealtad de usuario.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952500" y="5798790"/>
            <a:ext cx="3726210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Saturación de Mercado: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1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FAMILY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0" i="1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GAME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concentran el 29% del catálogo, exigiendo una diferenciación técnica agresiva.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5174010" y="1341090"/>
            <a:ext cx="2447925" cy="247650"/>
          </a:xfrm>
          <a:prstGeom prst="roundRect">
            <a:avLst>
              <a:gd fmla="val 15385" name="adj"/>
            </a:avLst>
          </a:prstGeom>
          <a:solidFill>
            <a:srgbClr val="0EA5E9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5269260" y="1341090"/>
            <a:ext cx="430052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INTERFAZ INTERACTIVA (PLOTLY DASH)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5174010" y="6084540"/>
            <a:ext cx="644649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Inter"/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Visualización de KPIs de negocio, distribución por categoría y perfiles de segmentación mediante radar charts.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9" name="Google Shape;4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0" name="Google Shape;43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1" name="Google Shape;43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8600"/>
            <a:ext cx="11049000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2" name="Google Shape;43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931515"/>
            <a:ext cx="2095500" cy="5655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3" name="Google Shape;433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09875" y="931515"/>
            <a:ext cx="2095500" cy="5655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4" name="Google Shape;434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48250" y="931515"/>
            <a:ext cx="2095500" cy="5655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5" name="Google Shape;435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86625" y="931515"/>
            <a:ext cx="2095500" cy="5655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6" name="Google Shape;436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25000" y="931515"/>
            <a:ext cx="2095500" cy="5655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7" name="Google Shape;437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1573262"/>
            <a:ext cx="6469410" cy="4894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8" name="Google Shape;438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5800" y="1709440"/>
            <a:ext cx="214313" cy="17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9" name="Google Shape;439;p1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85800" y="2001887"/>
            <a:ext cx="6240810" cy="4370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0" name="Google Shape;440;p1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5800" y="2001887"/>
            <a:ext cx="6240810" cy="4370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1" name="Google Shape;441;p1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231410" y="1573262"/>
            <a:ext cx="4389090" cy="4894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2" name="Google Shape;442;p1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345710" y="1709440"/>
            <a:ext cx="214313" cy="17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3" name="Google Shape;443;p1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345710" y="2001887"/>
            <a:ext cx="4143375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4" name="Google Shape;444;p1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71500" y="6536978"/>
            <a:ext cx="166688" cy="13722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2"/>
          <p:cNvSpPr/>
          <p:nvPr/>
        </p:nvSpPr>
        <p:spPr>
          <a:xfrm>
            <a:off x="762000" y="228600"/>
            <a:ext cx="10934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SCY1101 | ANÁLISIS PREDICTIVO GOOGLE PLAY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762000" y="466725"/>
            <a:ext cx="11020425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Inter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Dashboard: Vista Técnica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685800" y="990451"/>
            <a:ext cx="1943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R² TEST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685800" y="1180951"/>
            <a:ext cx="20059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0.9240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2924175" y="990451"/>
            <a:ext cx="1943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MAE (Σ)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2924175" y="1180951"/>
            <a:ext cx="20059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0.1671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5162550" y="990451"/>
            <a:ext cx="1943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R² CV K=5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5162550" y="1180951"/>
            <a:ext cx="20059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0.9177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7400925" y="990451"/>
            <a:ext cx="1943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K-CLUSTERS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7400925" y="1180951"/>
            <a:ext cx="1952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9639300" y="990451"/>
            <a:ext cx="19964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9639300" y="1180951"/>
            <a:ext cx="1952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173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995363" y="1668512"/>
            <a:ext cx="80238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Variables Críticas (Feature Importance)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7655272" y="1668512"/>
            <a:ext cx="453672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Comparativa de Modelos (R²)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814388" y="6505575"/>
            <a:ext cx="113776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Explorador Interactivo: Filtros por categoría y tipo de app con actualización de callbacks en tiempo real.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5" name="Google Shape;4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6" name="Google Shape;46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"/>
            <a:ext cx="11049000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7" name="Google Shape;46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1420118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8" name="Google Shape;46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191259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9" name="Google Shape;46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9700" y="3136553"/>
            <a:ext cx="590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0" name="Google Shape;47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76450" y="3136553"/>
            <a:ext cx="523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1" name="Google Shape;47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76525" y="3136553"/>
            <a:ext cx="7239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2" name="Google Shape;47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2500" y="3727103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3" name="Google Shape;473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2500" y="517966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4" name="Google Shape;474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254550" y="1388715"/>
            <a:ext cx="3683050" cy="5205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5" name="Google Shape;475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35550" y="1420118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6" name="Google Shape;476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35550" y="191259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7" name="Google Shape;477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92750" y="3136553"/>
            <a:ext cx="10572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8" name="Google Shape;478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226225" y="3136553"/>
            <a:ext cx="590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9" name="Google Shape;479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635550" y="3727103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0" name="Google Shape;480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635550" y="517966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1" name="Google Shape;481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937599" y="1388715"/>
            <a:ext cx="3683050" cy="5205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2" name="Google Shape;482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318599" y="1601093"/>
            <a:ext cx="166688" cy="13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3" name="Google Shape;483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318599" y="209356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4" name="Google Shape;484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318599" y="3546128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5" name="Google Shape;485;p1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318599" y="499869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13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SCY1101 | ANÁLISIS PREDICTIVO GOOGLE PLAY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762000" y="619125"/>
            <a:ext cx="114300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Inter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Stack Tecnológico y Herramientas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1214438" y="1388715"/>
            <a:ext cx="2921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1409700" y="1874490"/>
            <a:ext cx="24917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Python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1409700" y="2293590"/>
            <a:ext cx="2463850" cy="728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Entorno base para manipulación de datos y modelado estadístico.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1504950" y="3136553"/>
            <a:ext cx="633689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2171700" y="3136553"/>
            <a:ext cx="5126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2771775" y="3136553"/>
            <a:ext cx="88472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TextBlob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1409700" y="3689003"/>
            <a:ext cx="34061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Scikit-learn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1409700" y="4108103"/>
            <a:ext cx="2463850" cy="728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Core de ML: Random Forest, K-Means y optimización de hiperparámetros.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1409700" y="5141565"/>
            <a:ext cx="31318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Plotly Dash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1409700" y="5560665"/>
            <a:ext cx="2463850" cy="728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Framework para la creación de dashboards interactivos con Python.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4897487" y="1388715"/>
            <a:ext cx="2921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5092750" y="1874490"/>
            <a:ext cx="17602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GitHub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5092750" y="2293590"/>
            <a:ext cx="2463850" cy="728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Control de versiones con flujo de branching profesional y CI/CD.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5188000" y="3136553"/>
            <a:ext cx="1538004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Pull Requests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6321475" y="3136553"/>
            <a:ext cx="633689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Issues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5092750" y="3689003"/>
            <a:ext cx="17602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Kanban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5092750" y="4108103"/>
            <a:ext cx="2463850" cy="728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Trazabilidad completa de tareas y actividades críticas del proyecto.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5092750" y="5141565"/>
            <a:ext cx="148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Scrum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5092750" y="5560665"/>
            <a:ext cx="2463850" cy="728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Metodología ágil basada en sprints semanales para entregas iterativas.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8580537" y="1569690"/>
            <a:ext cx="2921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8775799" y="2055465"/>
            <a:ext cx="12115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Miro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8775799" y="2474565"/>
            <a:ext cx="2463850" cy="728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Planificación visual, arquitectura de datos y diagramas de flujo.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8775799" y="3508028"/>
            <a:ext cx="34061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Google Colab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8775799" y="3927128"/>
            <a:ext cx="2463850" cy="728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Entorno de experimentación rápida y entrenamiento en la nube.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8775799" y="4960590"/>
            <a:ext cx="2583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Notebooks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8775799" y="5379690"/>
            <a:ext cx="2463850" cy="728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3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75"/>
              <a:buFont typeface="Inter"/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Jupyter para el análisis exploratorio (EDA) y documentación técnica.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9029700" y="6276975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v3.4 | Entorno de Producción Local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0" name="Google Shape;5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1" name="Google Shape;5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2" name="Google Shape;52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000"/>
            <a:ext cx="11049000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3" name="Google Shape;52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98225"/>
            <a:ext cx="5410200" cy="267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4" name="Google Shape;52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1312515"/>
            <a:ext cx="51816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5" name="Google Shape;52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800" y="13125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6" name="Google Shape;52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9138" y="136966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7" name="Google Shape;52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5800" y="1845915"/>
            <a:ext cx="247650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8" name="Google Shape;52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5800" y="2322165"/>
            <a:ext cx="247650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9" name="Google Shape;529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5800" y="2798415"/>
            <a:ext cx="247650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0" name="Google Shape;530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5800" y="3274665"/>
            <a:ext cx="247650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1" name="Google Shape;531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10300" y="1198215"/>
            <a:ext cx="5410200" cy="26789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2" name="Google Shape;53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24600" y="1312515"/>
            <a:ext cx="51816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3" name="Google Shape;53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24600" y="13125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4" name="Google Shape;534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57938" y="136966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5" name="Google Shape;535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24600" y="2160240"/>
            <a:ext cx="4572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6" name="Google Shape;536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58000" y="2160240"/>
            <a:ext cx="657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7" name="Google Shape;537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591425" y="2160240"/>
            <a:ext cx="13239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8" name="Google Shape;538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991600" y="2160240"/>
            <a:ext cx="1257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9" name="Google Shape;539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324600" y="2617440"/>
            <a:ext cx="51816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0" name="Google Shape;540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324600" y="2717453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1" name="Google Shape;541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324600" y="2931765"/>
            <a:ext cx="51816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2" name="Google Shape;542;p1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324600" y="3031778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3" name="Google Shape;543;p1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324600" y="3346103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4" name="Google Shape;544;p1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105200" y="4112925"/>
            <a:ext cx="5410200" cy="236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5" name="Google Shape;54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19500" y="4227221"/>
            <a:ext cx="51816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6" name="Google Shape;54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19500" y="422722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7" name="Google Shape;547;p1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252838" y="4284371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8" name="Google Shape;548;p1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3219500" y="4722521"/>
            <a:ext cx="2519363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9" name="Google Shape;549;p1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881738" y="4722521"/>
            <a:ext cx="2519363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0" name="Google Shape;550;p1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219500" y="5436896"/>
            <a:ext cx="5181600" cy="346472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4"/>
          <p:cNvSpPr/>
          <p:nvPr/>
        </p:nvSpPr>
        <p:spPr>
          <a:xfrm>
            <a:off x="762000" y="381000"/>
            <a:ext cx="10934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SCY1101 | ANÁLISIS PREDICTIVO GOOGLE PLAY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762000" y="619125"/>
            <a:ext cx="114300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Inter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Proceso Colaborativo: Scrum, Kanban y Git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1104900" y="1322040"/>
            <a:ext cx="6039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Metodología Scrum: Sprints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742950" y="1845915"/>
            <a:ext cx="2568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Calibri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1047750" y="1807815"/>
            <a:ext cx="36768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Arquitectura y Diseño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1047750" y="2022128"/>
            <a:ext cx="750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5"/>
              <a:buFont typeface="Inter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Planificación del dashboard y estructura de datos.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742950" y="2322165"/>
            <a:ext cx="2568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Calibri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1047750" y="2284065"/>
            <a:ext cx="4191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Desarrollo e Integración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1047750" y="2498378"/>
            <a:ext cx="76542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5"/>
              <a:buFont typeface="Inter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Visualizaciones Plotly e integración de modelos RF.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742950" y="2798415"/>
            <a:ext cx="2568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Calibri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1047750" y="2760315"/>
            <a:ext cx="40197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Testing y Documentación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1047750" y="2974628"/>
            <a:ext cx="70599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5"/>
              <a:buFont typeface="Inter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Validación de callbacks y README técnico final.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742950" y="3274665"/>
            <a:ext cx="2568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Calibri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1047750" y="3236565"/>
            <a:ext cx="3162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4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25"/>
              <a:buFont typeface="Inter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Cierre de Proyecto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4"/>
          <p:cNvSpPr/>
          <p:nvPr/>
        </p:nvSpPr>
        <p:spPr>
          <a:xfrm>
            <a:off x="1047750" y="3450878"/>
            <a:ext cx="63171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5"/>
              <a:buFont typeface="Inter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Preparación de defensa y entrega de valor.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4943550" y="6551575"/>
            <a:ext cx="2304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Calibri"/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Evidencia: Tablero Kanban de gestión (Semanas 1 y 2)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6743700" y="1322040"/>
            <a:ext cx="5448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Flujo Profesional en Git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4"/>
          <p:cNvSpPr/>
          <p:nvPr/>
        </p:nvSpPr>
        <p:spPr>
          <a:xfrm>
            <a:off x="6324600" y="1807815"/>
            <a:ext cx="5257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Estrategia de Branching: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4"/>
          <p:cNvSpPr/>
          <p:nvPr/>
        </p:nvSpPr>
        <p:spPr>
          <a:xfrm>
            <a:off x="6419850" y="2160240"/>
            <a:ext cx="396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4"/>
          <p:cNvSpPr/>
          <p:nvPr/>
        </p:nvSpPr>
        <p:spPr>
          <a:xfrm>
            <a:off x="6953250" y="2160240"/>
            <a:ext cx="758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develop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7686675" y="2160240"/>
            <a:ext cx="20724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59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75985"/>
                </a:solidFill>
                <a:latin typeface="Calibri"/>
                <a:ea typeface="Calibri"/>
                <a:cs typeface="Calibri"/>
                <a:sym typeface="Calibri"/>
              </a:rPr>
              <a:t>feature/dashboard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9086850" y="2160240"/>
            <a:ext cx="1938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59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75985"/>
                </a:solidFill>
                <a:latin typeface="Calibri"/>
                <a:ea typeface="Calibri"/>
                <a:cs typeface="Calibri"/>
                <a:sym typeface="Calibri"/>
              </a:rPr>
              <a:t>feature/ml-model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6562725" y="2674590"/>
            <a:ext cx="5629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Pull Requests: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Revisión cruzada obligatoria.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6562725" y="2988915"/>
            <a:ext cx="5629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Issues: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Trazabilidad de tareas y bugs.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6562725" y="3303240"/>
            <a:ext cx="5629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Commits: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Historial documentado (&gt;5 commits clave).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3638600" y="4236746"/>
            <a:ext cx="5124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Gestión y Colaboración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3314750" y="4817771"/>
            <a:ext cx="2405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Miro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3314750" y="5065421"/>
            <a:ext cx="5425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5"/>
              <a:buFont typeface="Inter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Arquitectura y planificación visual.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5976988" y="4817771"/>
            <a:ext cx="2405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Kanban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5976988" y="5065421"/>
            <a:ext cx="3109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5"/>
              <a:buFont typeface="Inter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Control de estados To Do / Done.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4"/>
          <p:cNvSpPr/>
          <p:nvPr/>
        </p:nvSpPr>
        <p:spPr>
          <a:xfrm>
            <a:off x="3314750" y="5436896"/>
            <a:ext cx="50865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Inter"/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"La metodología ágil permitió pivotar rápidamente ante desafíos técnicos en el dashboard, manteniendo la entrega dentro de los plazos académicos."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15" title="kanb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5022" y="0"/>
            <a:ext cx="946917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3" name="Google Shape;5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4" name="Google Shape;59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5" name="Google Shape;59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4800"/>
            <a:ext cx="11049000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6" name="Google Shape;59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327696"/>
            <a:ext cx="11049000" cy="153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7" name="Google Shape;59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71700" y="1537246"/>
            <a:ext cx="8572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8" name="Google Shape;59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71700" y="1891010"/>
            <a:ext cx="154781" cy="12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9" name="Google Shape;59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53250" y="1891010"/>
            <a:ext cx="154781" cy="12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0" name="Google Shape;60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3048595"/>
            <a:ext cx="11049000" cy="153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1" name="Google Shape;60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171700" y="3258145"/>
            <a:ext cx="6572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2" name="Google Shape;60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171700" y="3611910"/>
            <a:ext cx="154781" cy="12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3" name="Google Shape;603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953250" y="3611910"/>
            <a:ext cx="154781" cy="12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4" name="Google Shape;604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71500" y="4769495"/>
            <a:ext cx="11049000" cy="153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5" name="Google Shape;605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171700" y="4979045"/>
            <a:ext cx="6572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6" name="Google Shape;606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171700" y="5332809"/>
            <a:ext cx="154781" cy="12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7" name="Google Shape;607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953250" y="5332809"/>
            <a:ext cx="154781" cy="12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16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SCY1101 | ANÁLISIS PREDICTIVO GOOGLE PLAY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762000" y="542925"/>
            <a:ext cx="114300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Inter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Hallazgos Clave y Recomendaciones Estratégicas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533400" y="1640384"/>
            <a:ext cx="1409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7200"/>
              <a:buFont typeface="Inter"/>
              <a:buNone/>
            </a:pPr>
            <a:r>
              <a:rPr b="1" i="0" lang="en-US" sz="7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2266950" y="1537246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ENGAGEMENT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3143250" y="1480096"/>
            <a:ext cx="904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El volumen de reseñas como motor principal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2383631" y="1861096"/>
            <a:ext cx="44767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Inter"/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HALLAZGO CRÍTICO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2171700" y="2075408"/>
            <a:ext cx="44767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Las reseñas (</a:t>
            </a: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63.6% de importancia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 son el predictor más fuerte de éxito, reflejando un ciclo de retroalimentación positivo entre visibilidad y confianza.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/>
          <p:nvPr/>
        </p:nvSpPr>
        <p:spPr>
          <a:xfrm>
            <a:off x="7165181" y="1861096"/>
            <a:ext cx="44767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Inter"/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RECOMENDACIÓN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/>
          <p:nvPr/>
        </p:nvSpPr>
        <p:spPr>
          <a:xfrm>
            <a:off x="6953250" y="2075408"/>
            <a:ext cx="44767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Implementar </a:t>
            </a: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in-app prompts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calificación estratégica durante las primeras 3 sesiones del usuario para maximizar el volumen de feedback temprano.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533400" y="3361283"/>
            <a:ext cx="1409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7200"/>
              <a:buFont typeface="Inter"/>
              <a:buNone/>
            </a:pPr>
            <a:r>
              <a:rPr b="1" i="0" lang="en-US" sz="7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2266950" y="3258145"/>
            <a:ext cx="7580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TÉCNICO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/>
          <p:nvPr/>
        </p:nvSpPr>
        <p:spPr>
          <a:xfrm>
            <a:off x="2943225" y="3200995"/>
            <a:ext cx="9248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Optimización de peso en mercados emergentes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2383631" y="3581995"/>
            <a:ext cx="44767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Inter"/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HALLAZGO CRÍTICO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6"/>
          <p:cNvSpPr/>
          <p:nvPr/>
        </p:nvSpPr>
        <p:spPr>
          <a:xfrm>
            <a:off x="2171700" y="3796308"/>
            <a:ext cx="44767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tamaño de la app (</a:t>
            </a: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12.6% de impacto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 condiciona la descarga masiva en dispositivos de gama media y mercados con datos móviles costosos.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7165181" y="3581995"/>
            <a:ext cx="44767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Inter"/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RECOMENDACIÓN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6"/>
          <p:cNvSpPr/>
          <p:nvPr/>
        </p:nvSpPr>
        <p:spPr>
          <a:xfrm>
            <a:off x="6953250" y="3796308"/>
            <a:ext cx="44767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Mantener un </a:t>
            </a: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tamaño de descarga competitivo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mediante entrega modular de recursos y optimización de activos multimedia para reducir fricción técnica.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533400" y="5082183"/>
            <a:ext cx="1409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7200"/>
              <a:buFont typeface="Inter"/>
              <a:buNone/>
            </a:pPr>
            <a:r>
              <a:rPr b="1" i="0" lang="en-US" sz="7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2266950" y="4979045"/>
            <a:ext cx="7580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MERCADO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2943225" y="4921895"/>
            <a:ext cx="9248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Oportunidad en nichos de alta satisfacción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6"/>
          <p:cNvSpPr/>
          <p:nvPr/>
        </p:nvSpPr>
        <p:spPr>
          <a:xfrm>
            <a:off x="2383631" y="5302895"/>
            <a:ext cx="44767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Inter"/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HALLAZGO CRÍTICO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6"/>
          <p:cNvSpPr/>
          <p:nvPr/>
        </p:nvSpPr>
        <p:spPr>
          <a:xfrm>
            <a:off x="2171700" y="5517207"/>
            <a:ext cx="44767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Cluster 2 (Nicho)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presenta un sentimiento 2.3σ sobre el promedio global, indicando alta lealtad a pesar de volúmenes de instalación moderados.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6"/>
          <p:cNvSpPr/>
          <p:nvPr/>
        </p:nvSpPr>
        <p:spPr>
          <a:xfrm>
            <a:off x="7165181" y="5302895"/>
            <a:ext cx="44767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5"/>
              <a:buFont typeface="Inter"/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RECOMENDACIÓN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6"/>
          <p:cNvSpPr/>
          <p:nvPr/>
        </p:nvSpPr>
        <p:spPr>
          <a:xfrm>
            <a:off x="6953250" y="5517207"/>
            <a:ext cx="44767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Priorizar el posicionamiento en categorías como </a:t>
            </a: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Events o Beauty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donde la competencia es menor y la satisfacción del usuario es estructuralmente superior.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6" name="Google Shape;6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7" name="Google Shape;6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8" name="Google Shape;6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000"/>
            <a:ext cx="11049000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9" name="Google Shape;63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98215"/>
            <a:ext cx="3555950" cy="4588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0" name="Google Shape;64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" y="142681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1" name="Google Shape;64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725" y="150301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2" name="Google Shape;64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0100" y="196021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3" name="Google Shape;64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0100" y="2927598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4" name="Google Shape;64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0100" y="3894981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5" name="Google Shape;64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17950" y="1198215"/>
            <a:ext cx="3555950" cy="4588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6" name="Google Shape;646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46550" y="142681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7" name="Google Shape;647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94175" y="150301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8" name="Google Shape;64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46550" y="196021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9" name="Google Shape;64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46550" y="2927598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0" name="Google Shape;65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46550" y="3894981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1" name="Google Shape;651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64401" y="1198215"/>
            <a:ext cx="3555951" cy="4588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2" name="Google Shape;652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293001" y="142681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3" name="Google Shape;653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340626" y="150301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4" name="Google Shape;65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93001" y="196021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5" name="Google Shape;65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93001" y="2927598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6" name="Google Shape;656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293001" y="368171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7" name="Google Shape;657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71500" y="6015038"/>
            <a:ext cx="11049000" cy="4619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8" name="Google Shape;658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62000" y="6183064"/>
            <a:ext cx="154781" cy="12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9" name="Google Shape;659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005888" y="6129338"/>
            <a:ext cx="847725" cy="233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0" name="Google Shape;660;p1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929813" y="6129338"/>
            <a:ext cx="1500188" cy="233362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17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SCY1101 | ANÁLISIS PREDICTIVO GOOGLE PLAY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7"/>
          <p:cNvSpPr/>
          <p:nvPr/>
        </p:nvSpPr>
        <p:spPr>
          <a:xfrm>
            <a:off x="762000" y="619125"/>
            <a:ext cx="114300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Inter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Conclusiones, Lecciones Aprendidas y Trabajo Futuro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7"/>
          <p:cNvSpPr/>
          <p:nvPr/>
        </p:nvSpPr>
        <p:spPr>
          <a:xfrm>
            <a:off x="1295400" y="1474440"/>
            <a:ext cx="283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7"/>
          <p:cNvSpPr/>
          <p:nvPr/>
        </p:nvSpPr>
        <p:spPr>
          <a:xfrm>
            <a:off x="1085850" y="1960215"/>
            <a:ext cx="2813000" cy="85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Eficacia Predictiva: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Random Forest alcanzó un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R²=0.9240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demostrando ser una herramienta robusta para anticipar el éxito de apps.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7"/>
          <p:cNvSpPr/>
          <p:nvPr/>
        </p:nvSpPr>
        <p:spPr>
          <a:xfrm>
            <a:off x="1085850" y="2927598"/>
            <a:ext cx="2813000" cy="85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Pipeline Integral: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 logró una solución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end-to-end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desde el preprocesamiento masivo y NLP hasta la visualización.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7"/>
          <p:cNvSpPr/>
          <p:nvPr/>
        </p:nvSpPr>
        <p:spPr>
          <a:xfrm>
            <a:off x="1085850" y="3894981"/>
            <a:ext cx="2813000" cy="85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Valor del Dashboard: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estructura dual (Gerencial/Técnica) valida la utilidad de la herramienta para diversos stakeholders.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7"/>
          <p:cNvSpPr/>
          <p:nvPr/>
        </p:nvSpPr>
        <p:spPr>
          <a:xfrm>
            <a:off x="5041850" y="1474440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Lecciones Aprendidas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7"/>
          <p:cNvSpPr/>
          <p:nvPr/>
        </p:nvSpPr>
        <p:spPr>
          <a:xfrm>
            <a:off x="4832300" y="1960215"/>
            <a:ext cx="2813000" cy="85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Metodología de Validación: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 uso de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K-Fold Cross-Validation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 crítico para evitar sobreajustes y asegurar estabilidad.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7"/>
          <p:cNvSpPr/>
          <p:nvPr/>
        </p:nvSpPr>
        <p:spPr>
          <a:xfrm>
            <a:off x="4832300" y="2927598"/>
            <a:ext cx="2813000" cy="85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Eficiencia en Modelado: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Randomized Search provee resultados equivalentes a Grid Search con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80% menos de cómputo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7"/>
          <p:cNvSpPr/>
          <p:nvPr/>
        </p:nvSpPr>
        <p:spPr>
          <a:xfrm>
            <a:off x="4832300" y="3894981"/>
            <a:ext cx="2813000" cy="85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Colaboración Profesional: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 flujo de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Git con Branching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revisiones cruzadas minimizó errores en la integración final.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7"/>
          <p:cNvSpPr/>
          <p:nvPr/>
        </p:nvSpPr>
        <p:spPr>
          <a:xfrm>
            <a:off x="8788301" y="1474440"/>
            <a:ext cx="3295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Trabajo Futuro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7"/>
          <p:cNvSpPr/>
          <p:nvPr/>
        </p:nvSpPr>
        <p:spPr>
          <a:xfrm>
            <a:off x="8578751" y="1960215"/>
            <a:ext cx="2813000" cy="85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Análisis Temporal: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Integrar series de tiempo para monitorear la evolución del rating tras actualizaciones de software.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7"/>
          <p:cNvSpPr/>
          <p:nvPr/>
        </p:nvSpPr>
        <p:spPr>
          <a:xfrm>
            <a:off x="8578751" y="2927598"/>
            <a:ext cx="28130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Optimización ML: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Explorar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XGBoost o LightGBM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 capturar patrones más complejos con menor latencia.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7"/>
          <p:cNvSpPr/>
          <p:nvPr/>
        </p:nvSpPr>
        <p:spPr>
          <a:xfrm>
            <a:off x="8578751" y="3834098"/>
            <a:ext cx="2813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Despliegue Cloud: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Migrar la solución a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Heroku o Render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 permitir acceso remoto a los dashboards interactivos.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7"/>
          <p:cNvSpPr/>
          <p:nvPr/>
        </p:nvSpPr>
        <p:spPr>
          <a:xfrm>
            <a:off x="992981" y="6153150"/>
            <a:ext cx="1008126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75"/>
              <a:buFont typeface="Calibri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github.com/pau-rcr/Google-Play-Analysis-EV3-SCY1101-Cancino-Caro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7"/>
          <p:cNvSpPr/>
          <p:nvPr/>
        </p:nvSpPr>
        <p:spPr>
          <a:xfrm>
            <a:off x="9101138" y="6129338"/>
            <a:ext cx="1310897" cy="233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Inter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JUNIO 2026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7"/>
          <p:cNvSpPr/>
          <p:nvPr/>
        </p:nvSpPr>
        <p:spPr>
          <a:xfrm>
            <a:off x="10025063" y="6129338"/>
            <a:ext cx="2161721" cy="233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Inter"/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PROYECTO FINALIZADO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